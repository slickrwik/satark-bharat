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Abadi" panose="020B0604020104020204" pitchFamily="3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0C1C"/>
    <a:srgbClr val="FFFC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0808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420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01418C0-DA0F-6A5C-57AB-9D2034566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28725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06390" y="1066800"/>
            <a:ext cx="5587860" cy="4724400"/>
          </a:xfrm>
          <a:prstGeom prst="rect">
            <a:avLst/>
          </a:prstGeom>
          <a:solidFill>
            <a:srgbClr val="420C1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12780" y="1925637"/>
            <a:ext cx="4775081" cy="1074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7000"/>
              </a:lnSpc>
              <a:buNone/>
            </a:pPr>
            <a:r>
              <a:rPr lang="hi-IN" altLang="en-US" sz="4600" kern="100" spc="-115" dirty="0">
                <a:solidFill>
                  <a:srgbClr val="FFFFFF"/>
                </a:solidFill>
                <a:latin typeface="Abadi" panose="020F0502020204030204" pitchFamily="34" charset="0"/>
                <a:ea typeface="Noto Sans Devanagari SemiBold" pitchFamily="34" charset="-122"/>
                <a:cs typeface="Noto Sans Devanagari SemiBold" pitchFamily="34" charset="-120"/>
              </a:rPr>
              <a:t>SatarkBharat </a:t>
            </a:r>
            <a:r>
              <a:rPr lang="hi-IN" altLang="en-US" sz="4600" kern="100" spc="-115" dirty="0">
                <a:solidFill>
                  <a:srgbClr val="1D7C73"/>
                </a:solidFill>
                <a:latin typeface="Abadi" panose="020F0502020204030204" pitchFamily="34" charset="0"/>
                <a:ea typeface="Noto Sans Devanagari SemiBold" pitchFamily="34" charset="-122"/>
                <a:cs typeface="Noto Sans Devanagari SemiBold" pitchFamily="34" charset="-120"/>
              </a:rPr>
              <a:t>(सतर्क भारत)</a:t>
            </a:r>
            <a:endParaRPr lang="hi-IN" sz="4600" dirty="0"/>
          </a:p>
        </p:txBody>
      </p:sp>
      <p:sp>
        <p:nvSpPr>
          <p:cNvPr id="4" name="Shape 2"/>
          <p:cNvSpPr/>
          <p:nvPr/>
        </p:nvSpPr>
        <p:spPr>
          <a:xfrm>
            <a:off x="812780" y="3336925"/>
            <a:ext cx="596885" cy="38100"/>
          </a:xfrm>
          <a:prstGeom prst="roundRect">
            <a:avLst>
              <a:gd name="adj" fmla="val 49999"/>
            </a:avLst>
          </a:prstGeom>
          <a:solidFill>
            <a:srgbClr val="EBC9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2780" y="3683000"/>
            <a:ext cx="4775081" cy="1249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95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Pre-Transaction Multimodal Sentinel for Indian Retail Investor Defense.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Built for SANGYAN Hackathon | Track A: Digital Fraud &amp; Scam Resilience.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738981"/>
            <a:ext cx="9143771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45" dirty="0">
                <a:solidFill>
                  <a:srgbClr val="420C1C"/>
                </a:solidFill>
                <a:latin typeface="Abadi" panose="020F0502020204030204" pitchFamily="34" charset="0"/>
                <a:ea typeface="Noto Sans Devanagari SemiBold" pitchFamily="34" charset="-122"/>
                <a:cs typeface="Noto Sans Devanagari SemiBold" pitchFamily="34" charset="-120"/>
              </a:rPr>
              <a:t>The Silent Crisis in Bharat's Retail Investing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780" y="1475581"/>
            <a:ext cx="1320767" cy="38100"/>
          </a:xfrm>
          <a:prstGeom prst="roundRect">
            <a:avLst>
              <a:gd name="adj" fmla="val 49999"/>
            </a:avLst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12780" y="1821656"/>
            <a:ext cx="10566136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420C1C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India added 100M+ retail demat accounts, but post-facto grievance redressal cannot save first-time investors once money leaves their account.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12780" y="2756297"/>
            <a:ext cx="3318784" cy="3362722"/>
          </a:xfrm>
          <a:prstGeom prst="roundRect">
            <a:avLst>
              <a:gd name="adj" fmla="val 976"/>
            </a:avLst>
          </a:prstGeom>
          <a:solidFill>
            <a:srgbClr val="C98E8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41374" y="2984897"/>
            <a:ext cx="3090190" cy="327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badi" panose="020B0604020104020204" pitchFamily="34" charset="0"/>
                <a:ea typeface="Noto Color Emoji" pitchFamily="34" charset="-122"/>
                <a:cs typeface="Noto Color Emoji" pitchFamily="34" charset="-120"/>
              </a:rPr>
              <a:t>📜</a:t>
            </a:r>
            <a:r>
              <a:rPr lang="en-US" sz="1700" dirty="0">
                <a:solidFill>
                  <a:srgbClr val="420C1C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 Spoofed Credentials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41374" y="3566517"/>
            <a:ext cx="286159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-10" dirty="0">
                <a:solidFill>
                  <a:srgbClr val="420C1C"/>
                </a:solidFill>
                <a:latin typeface="Abadi" panose="020F0502020204030204" pitchFamily="34" charset="0"/>
                <a:ea typeface="Noto Sans Devanagari SemiBold" pitchFamily="34" charset="-122"/>
                <a:cs typeface="Noto Sans Devanagari SemiBold" pitchFamily="34" charset="-120"/>
              </a:rPr>
              <a:t>Forged SEBI Certificates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41374" y="4379317"/>
            <a:ext cx="2861596" cy="151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420C1C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Unregistered syndicates impersonating licensed Research Analysts on Telegram &amp; WhatsApp with fake letterheads.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436356" y="2756297"/>
            <a:ext cx="3318883" cy="3362722"/>
          </a:xfrm>
          <a:prstGeom prst="roundRect">
            <a:avLst>
              <a:gd name="adj" fmla="val 976"/>
            </a:avLst>
          </a:prstGeom>
          <a:solidFill>
            <a:srgbClr val="C98E8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664950" y="2984897"/>
            <a:ext cx="3090289" cy="327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badi" panose="020B0604020104020204" pitchFamily="34" charset="0"/>
                <a:ea typeface="Noto Color Emoji" pitchFamily="34" charset="-122"/>
                <a:cs typeface="Noto Color Emoji" pitchFamily="34" charset="-120"/>
              </a:rPr>
              <a:t>💳</a:t>
            </a:r>
            <a:r>
              <a:rPr lang="en-US" sz="1700" dirty="0">
                <a:solidFill>
                  <a:srgbClr val="420C1C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 Shadow Payment Trails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64950" y="3566517"/>
            <a:ext cx="286169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-10" dirty="0">
                <a:solidFill>
                  <a:srgbClr val="420C1C"/>
                </a:solidFill>
                <a:latin typeface="Abadi" panose="020F0502020204030204" pitchFamily="34" charset="0"/>
                <a:ea typeface="Noto Sans Devanagari SemiBold" pitchFamily="34" charset="-122"/>
                <a:cs typeface="Noto Sans Devanagari SemiBold" pitchFamily="34" charset="-120"/>
              </a:rPr>
              <a:t>Personal UPI Diversion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64950" y="4074517"/>
            <a:ext cx="2861695" cy="1813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420C1C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Bypassing SEBI clearing mandates (Circular 2023/71) by soliciting advisory fees to personal VPAs (@paytm, @okhdfcbank).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060032" y="2756297"/>
            <a:ext cx="3318883" cy="3362722"/>
          </a:xfrm>
          <a:prstGeom prst="roundRect">
            <a:avLst>
              <a:gd name="adj" fmla="val 976"/>
            </a:avLst>
          </a:prstGeom>
          <a:solidFill>
            <a:srgbClr val="C98E8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88626" y="2984897"/>
            <a:ext cx="3090289" cy="327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badi" panose="020B0604020104020204" pitchFamily="34" charset="0"/>
                <a:ea typeface="Noto Color Emoji" pitchFamily="34" charset="-122"/>
                <a:cs typeface="Noto Color Emoji" pitchFamily="34" charset="-120"/>
              </a:rPr>
              <a:t>📲</a:t>
            </a:r>
            <a:r>
              <a:rPr lang="en-US" sz="1700" dirty="0">
                <a:solidFill>
                  <a:srgbClr val="420C1C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 Malicious Clones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88626" y="3566517"/>
            <a:ext cx="286169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-10" dirty="0">
                <a:solidFill>
                  <a:srgbClr val="420C1C"/>
                </a:solidFill>
                <a:latin typeface="Abadi" panose="020F0502020204030204" pitchFamily="34" charset="0"/>
                <a:ea typeface="Noto Sans Devanagari SemiBold" pitchFamily="34" charset="-122"/>
                <a:cs typeface="Noto Sans Devanagari SemiBold" pitchFamily="34" charset="-120"/>
              </a:rPr>
              <a:t>Cloned APK Trading Terminals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88626" y="4379317"/>
            <a:ext cx="2861695" cy="151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420C1C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Phishing SMS urging victims to download unofficial .apk apps (e.g., zer0dha.apk) to bypass play-store security.</a:t>
            </a:r>
            <a:endParaRPr lang="en-US" sz="17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D1F728-6770-3960-492D-3F8DA010C4AD}"/>
              </a:ext>
            </a:extLst>
          </p:cNvPr>
          <p:cNvSpPr/>
          <p:nvPr/>
        </p:nvSpPr>
        <p:spPr>
          <a:xfrm>
            <a:off x="11032067" y="6561667"/>
            <a:ext cx="1083733" cy="237066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812800"/>
            <a:ext cx="9143771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45" dirty="0">
                <a:solidFill>
                  <a:srgbClr val="420C1C"/>
                </a:solidFill>
                <a:latin typeface="Abadi" panose="020F0502020204030204" pitchFamily="34" charset="0"/>
                <a:ea typeface="Noto Sans Devanagari SemiBold" pitchFamily="34" charset="-122"/>
                <a:cs typeface="Noto Sans Devanagari SemiBold" pitchFamily="34" charset="-120"/>
              </a:rPr>
              <a:t>A chatbot answer is not registry verification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780" y="1495425"/>
            <a:ext cx="5054474" cy="4549775"/>
          </a:xfrm>
          <a:prstGeom prst="rect">
            <a:avLst/>
          </a:prstGeom>
          <a:solidFill>
            <a:srgbClr val="F3EA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117572" y="2898577"/>
            <a:ext cx="4749681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420C1C"/>
                </a:solidFill>
                <a:latin typeface="Abadi" panose="020B0604020104020204" pitchFamily="34" charset="0"/>
                <a:ea typeface="Noto Sans Devanagari Medium" pitchFamily="34" charset="-122"/>
                <a:cs typeface="Noto Sans Devanagari Medium" pitchFamily="34" charset="-120"/>
              </a:rPr>
              <a:t>Generic LLM wrappers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17572" y="3227487"/>
            <a:ext cx="444488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-10" dirty="0">
                <a:solidFill>
                  <a:srgbClr val="420C1C"/>
                </a:solidFill>
                <a:latin typeface="Abadi" panose="020F0502020204030204" pitchFamily="34" charset="0"/>
                <a:ea typeface="Noto Sans Devanagari SemiBold" pitchFamily="34" charset="-122"/>
                <a:cs typeface="Noto Sans Devanagari SemiBold" pitchFamily="34" charset="-120"/>
              </a:rPr>
              <a:t>Risk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7572" y="3735487"/>
            <a:ext cx="4444889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420C1C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Hallucinated registration, text-only ingestion, speculative advice and grievance confusion.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324442" y="1495425"/>
            <a:ext cx="5054474" cy="4549775"/>
          </a:xfrm>
          <a:prstGeom prst="rect">
            <a:avLst/>
          </a:prstGeom>
          <a:solidFill>
            <a:srgbClr val="420C1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629234" y="3049687"/>
            <a:ext cx="4749681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badi" panose="020B0604020104020204" pitchFamily="34" charset="0"/>
                <a:ea typeface="Noto Sans Devanagari Medium" pitchFamily="34" charset="-122"/>
                <a:cs typeface="Noto Sans Devanagari Medium" pitchFamily="34" charset="-120"/>
              </a:rPr>
              <a:t>SatarkBharat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29234" y="3378597"/>
            <a:ext cx="444488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-10" dirty="0">
                <a:solidFill>
                  <a:srgbClr val="FFFFFF"/>
                </a:solidFill>
                <a:latin typeface="Abadi" panose="020F0502020204030204" pitchFamily="34" charset="0"/>
                <a:ea typeface="Noto Sans Devanagari SemiBold" pitchFamily="34" charset="-122"/>
                <a:cs typeface="Noto Sans Devanagari SemiBold" pitchFamily="34" charset="-120"/>
              </a:rPr>
              <a:t>Combines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629234" y="3886597"/>
            <a:ext cx="4444889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Multimodal perception with deterministic regulatory checks and hard guardrails.</a:t>
            </a:r>
            <a:endParaRPr lang="en-US" sz="17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3777E5-E8EC-C1EC-E100-F27DF4FB4820}"/>
              </a:ext>
            </a:extLst>
          </p:cNvPr>
          <p:cNvSpPr/>
          <p:nvPr/>
        </p:nvSpPr>
        <p:spPr>
          <a:xfrm>
            <a:off x="11032067" y="6561667"/>
            <a:ext cx="1083733" cy="237066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812800"/>
            <a:ext cx="9143771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45" dirty="0">
                <a:solidFill>
                  <a:srgbClr val="420C1C"/>
                </a:solidFill>
                <a:latin typeface="Abadi" panose="020F0502020204030204" pitchFamily="34" charset="0"/>
                <a:ea typeface="Nirmala UI" panose="020B0502040204020203" pitchFamily="34" charset="0"/>
                <a:cs typeface="Noto Sans Devanagari SemiBold" pitchFamily="34" charset="-120"/>
              </a:rPr>
              <a:t>Perceive, verify, warn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780" y="1495425"/>
            <a:ext cx="1203096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100" spc="-88" dirty="0">
                <a:solidFill>
                  <a:srgbClr val="7A5C60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01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634886" y="1692275"/>
            <a:ext cx="974403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-10" dirty="0">
                <a:solidFill>
                  <a:srgbClr val="420C1C"/>
                </a:solidFill>
                <a:latin typeface="Abadi" panose="020F0502020204030204" pitchFamily="34" charset="0"/>
                <a:ea typeface="Noto Sans Devanagari SemiBold" pitchFamily="34" charset="-122"/>
                <a:cs typeface="Noto Sans Devanagari SemiBold" pitchFamily="34" charset="-120"/>
              </a:rPr>
              <a:t>Ingestion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34886" y="2200275"/>
            <a:ext cx="974403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420C1C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Hindi, Bengali and Hinglish voice notes; screenshots; advisory broadcasts; SMS links.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12780" y="3046710"/>
            <a:ext cx="1203096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100" spc="-88" dirty="0">
                <a:solidFill>
                  <a:srgbClr val="7A5C60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02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634886" y="3243560"/>
            <a:ext cx="974403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-10" dirty="0">
                <a:solidFill>
                  <a:srgbClr val="420C1C"/>
                </a:solidFill>
                <a:latin typeface="Abadi" panose="020F0502020204030204" pitchFamily="34" charset="0"/>
                <a:ea typeface="Noto Sans Devanagari SemiBold" pitchFamily="34" charset="-122"/>
                <a:cs typeface="Noto Sans Devanagari SemiBold" pitchFamily="34" charset="-120"/>
              </a:rPr>
              <a:t>Regulatory engine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34886" y="3751560"/>
            <a:ext cx="9744030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420C1C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Registration checks, payment audit, domain lookalikes and APK audit, guaranteed-return claims.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12780" y="4900216"/>
            <a:ext cx="1203096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100" spc="-88" dirty="0">
                <a:solidFill>
                  <a:srgbClr val="7A5C60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03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1634886" y="5097066"/>
            <a:ext cx="974403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-10" dirty="0">
                <a:solidFill>
                  <a:srgbClr val="420C1C"/>
                </a:solidFill>
                <a:latin typeface="Abadi" panose="020F0502020204030204" pitchFamily="34" charset="0"/>
                <a:ea typeface="Noto Sans Devanagari SemiBold" pitchFamily="34" charset="-122"/>
                <a:cs typeface="Noto Sans Devanagari SemiBold" pitchFamily="34" charset="-120"/>
              </a:rPr>
              <a:t>Decision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34886" y="5605066"/>
            <a:ext cx="974403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420C1C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Bounded threat score, red-line overrides, vernacular warning and evidence docket.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2780" y="2837160"/>
            <a:ext cx="10566136" cy="12700"/>
          </a:xfrm>
          <a:prstGeom prst="rect">
            <a:avLst/>
          </a:prstGeom>
          <a:solidFill>
            <a:srgbClr val="E2D3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812780" y="4690666"/>
            <a:ext cx="10566136" cy="12700"/>
          </a:xfrm>
          <a:prstGeom prst="rect">
            <a:avLst/>
          </a:prstGeom>
          <a:solidFill>
            <a:srgbClr val="E2D3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AFA6AE-7A8C-316C-D775-D7CAD1ACDF92}"/>
              </a:ext>
            </a:extLst>
          </p:cNvPr>
          <p:cNvSpPr/>
          <p:nvPr/>
        </p:nvSpPr>
        <p:spPr>
          <a:xfrm>
            <a:off x="11032067" y="6561667"/>
            <a:ext cx="1083733" cy="237066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1268512"/>
            <a:ext cx="3459473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45" dirty="0">
                <a:solidFill>
                  <a:srgbClr val="FFFFFF"/>
                </a:solidFill>
                <a:latin typeface="Abadi" panose="020F0502020204030204" pitchFamily="34" charset="0"/>
                <a:ea typeface="Noto Sans Devanagari SemiBold" pitchFamily="34" charset="-122"/>
                <a:cs typeface="Noto Sans Devanagari SemiBold" pitchFamily="34" charset="-120"/>
              </a:rPr>
              <a:t>Make the risk visible and explainable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12780" y="2751237"/>
            <a:ext cx="406905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EBC9C9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Conceptual mockup, illustrative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780" y="3219847"/>
            <a:ext cx="3459473" cy="2369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95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Transparent five-point invariant checklist and colloquial Hindi or Bengali voice warning.</a:t>
            </a:r>
            <a:endParaRPr lang="en-US" sz="17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Scenario benchmarks: WhatsApp impersonation, Telegram syndicates, cloned APKs and verified brokers.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542122" y="0"/>
            <a:ext cx="6649573" cy="6858000"/>
          </a:xfrm>
          <a:prstGeom prst="rect">
            <a:avLst/>
          </a:prstGeom>
          <a:solidFill>
            <a:srgbClr val="F3EA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8511" y="1504057"/>
            <a:ext cx="624318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420C1C"/>
                </a:solidFill>
                <a:latin typeface="Abadi" panose="020B0604020104020204" pitchFamily="34" charset="0"/>
                <a:ea typeface="Noto Sans Devanagari Medium" pitchFamily="34" charset="-122"/>
                <a:cs typeface="Noto Sans Devanagari Medium" pitchFamily="34" charset="-120"/>
              </a:rPr>
              <a:t>THREAT INDEX · SCALE 0–100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014936"/>
              </p:ext>
            </p:extLst>
          </p:nvPr>
        </p:nvGraphicFramePr>
        <p:xfrm>
          <a:off x="5948511" y="2216477"/>
          <a:ext cx="5836794" cy="2425045"/>
        </p:xfrm>
        <a:graphic>
          <a:graphicData uri="http://schemas.openxmlformats.org/drawingml/2006/table">
            <a:tbl>
              <a:tblPr/>
              <a:tblGrid>
                <a:gridCol w="1284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46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8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20C1C"/>
                          </a:solidFill>
                          <a:latin typeface="Abadi" panose="020B0604020104020204" pitchFamily="34" charset="0"/>
                          <a:ea typeface="Noto Sans Devanagari" pitchFamily="34" charset="-122"/>
                          <a:cs typeface="Noto Sans Devanagari" pitchFamily="34" charset="-120"/>
                        </a:rPr>
                        <a:t>Score</a:t>
                      </a:r>
                      <a:endParaRPr lang="en-US" sz="1700" dirty="0">
                        <a:latin typeface="Abadi" panose="020B0604020104020204" pitchFamily="34" charset="0"/>
                        <a:ea typeface="Noto Sans Devanagari" charset="0"/>
                        <a:cs typeface="Noto Sans Devanagari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20C1C"/>
                          </a:solidFill>
                          <a:latin typeface="Abadi" panose="020B0604020104020204" pitchFamily="34" charset="0"/>
                          <a:ea typeface="Noto Sans Devanagari" pitchFamily="34" charset="-122"/>
                          <a:cs typeface="Noto Sans Devanagari" pitchFamily="34" charset="-120"/>
                        </a:rPr>
                        <a:t>Level</a:t>
                      </a:r>
                      <a:endParaRPr lang="en-US" sz="1700" dirty="0">
                        <a:latin typeface="Abadi" panose="020B0604020104020204" pitchFamily="34" charset="0"/>
                        <a:ea typeface="Noto Sans Devanagari" charset="0"/>
                        <a:cs typeface="Noto Sans Devanagari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20C1C"/>
                          </a:solidFill>
                          <a:latin typeface="Abadi" panose="020B0604020104020204" pitchFamily="34" charset="0"/>
                          <a:ea typeface="Noto Sans Devanagari" pitchFamily="34" charset="-122"/>
                          <a:cs typeface="Noto Sans Devanagari" pitchFamily="34" charset="-120"/>
                        </a:rPr>
                        <a:t>Action</a:t>
                      </a:r>
                      <a:endParaRPr lang="en-US" sz="1700" dirty="0">
                        <a:latin typeface="Abadi" panose="020B0604020104020204" pitchFamily="34" charset="0"/>
                        <a:ea typeface="Noto Sans Devanagari" charset="0"/>
                        <a:cs typeface="Noto Sans Devanagari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3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E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A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20C1C"/>
                          </a:solidFill>
                          <a:latin typeface="Abadi" panose="020B0604020104020204" pitchFamily="34" charset="0"/>
                          <a:ea typeface="Noto Sans Devanagari" pitchFamily="34" charset="-122"/>
                          <a:cs typeface="Noto Sans Devanagari" pitchFamily="34" charset="-120"/>
                        </a:rPr>
                        <a:t>0–24</a:t>
                      </a:r>
                      <a:endParaRPr lang="en-US" sz="1700" dirty="0">
                        <a:latin typeface="Abadi" panose="020B0604020104020204" pitchFamily="34" charset="0"/>
                        <a:ea typeface="Noto Sans Devanagari" charset="0"/>
                        <a:cs typeface="Noto Sans Devanagari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A7E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E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E3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20C1C"/>
                          </a:solidFill>
                          <a:latin typeface="Abadi" panose="020B0604020104020204" pitchFamily="34" charset="0"/>
                          <a:ea typeface="Noto Sans Devanagari" pitchFamily="34" charset="-122"/>
                          <a:cs typeface="Noto Sans Devanagari" pitchFamily="34" charset="-120"/>
                        </a:rPr>
                        <a:t>Low Risk</a:t>
                      </a:r>
                      <a:endParaRPr lang="en-US" sz="1700" dirty="0">
                        <a:latin typeface="Abadi" panose="020B0604020104020204" pitchFamily="34" charset="0"/>
                        <a:ea typeface="Noto Sans Devanagari" charset="0"/>
                        <a:cs typeface="Noto Sans Devanagari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A7E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E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E3B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20C1C"/>
                          </a:solidFill>
                          <a:latin typeface="Abadi" panose="020B0604020104020204" pitchFamily="34" charset="0"/>
                          <a:ea typeface="Noto Sans Devanagari" pitchFamily="34" charset="-122"/>
                          <a:cs typeface="Noto Sans Devanagari" pitchFamily="34" charset="-120"/>
                        </a:rPr>
                        <a:t>Safe</a:t>
                      </a:r>
                      <a:endParaRPr lang="en-US" sz="1700" dirty="0">
                        <a:latin typeface="Abadi" panose="020B0604020104020204" pitchFamily="34" charset="0"/>
                        <a:ea typeface="Noto Sans Devanagari" charset="0"/>
                        <a:cs typeface="Noto Sans Devanagari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A7E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7E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E3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20C1C"/>
                          </a:solidFill>
                          <a:latin typeface="Abadi" panose="020B0604020104020204" pitchFamily="34" charset="0"/>
                          <a:ea typeface="Noto Sans Devanagari" pitchFamily="34" charset="-122"/>
                          <a:cs typeface="Noto Sans Devanagari" pitchFamily="34" charset="-120"/>
                        </a:rPr>
                        <a:t>25–59</a:t>
                      </a:r>
                      <a:endParaRPr lang="en-US" sz="1700" dirty="0">
                        <a:latin typeface="Abadi" panose="020B0604020104020204" pitchFamily="34" charset="0"/>
                        <a:ea typeface="Noto Sans Devanagari" charset="0"/>
                        <a:cs typeface="Noto Sans Devanagari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C8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8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8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20C1C"/>
                          </a:solidFill>
                          <a:latin typeface="Abadi" panose="020B0604020104020204" pitchFamily="34" charset="0"/>
                          <a:ea typeface="Noto Sans Devanagari" pitchFamily="34" charset="-122"/>
                          <a:cs typeface="Noto Sans Devanagari" pitchFamily="34" charset="-120"/>
                        </a:rPr>
                        <a:t>Elevated</a:t>
                      </a:r>
                      <a:endParaRPr lang="en-US" sz="1700" dirty="0">
                        <a:latin typeface="Abadi" panose="020B0604020104020204" pitchFamily="34" charset="0"/>
                        <a:ea typeface="Noto Sans Devanagari" charset="0"/>
                        <a:cs typeface="Noto Sans Devanagari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C8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8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8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20C1C"/>
                          </a:solidFill>
                          <a:latin typeface="Abadi" panose="020B0604020104020204" pitchFamily="34" charset="0"/>
                          <a:ea typeface="Noto Sans Devanagari" pitchFamily="34" charset="-122"/>
                          <a:cs typeface="Noto Sans Devanagari" pitchFamily="34" charset="-120"/>
                        </a:rPr>
                        <a:t>Check registry</a:t>
                      </a:r>
                      <a:endParaRPr lang="en-US" sz="1700" dirty="0">
                        <a:latin typeface="Abadi" panose="020B0604020104020204" pitchFamily="34" charset="0"/>
                        <a:ea typeface="Noto Sans Devanagari" charset="0"/>
                        <a:cs typeface="Noto Sans Devanagari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C8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8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8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20C1C"/>
                          </a:solidFill>
                          <a:latin typeface="Abadi" panose="020B0604020104020204" pitchFamily="34" charset="0"/>
                          <a:ea typeface="Noto Sans Devanagari" pitchFamily="34" charset="-122"/>
                          <a:cs typeface="Noto Sans Devanagari" pitchFamily="34" charset="-120"/>
                        </a:rPr>
                        <a:t>60–84</a:t>
                      </a:r>
                      <a:endParaRPr lang="en-US" sz="1700" dirty="0">
                        <a:latin typeface="Abadi" panose="020B0604020104020204" pitchFamily="34" charset="0"/>
                        <a:ea typeface="Noto Sans Devanagari" charset="0"/>
                        <a:cs typeface="Noto Sans Devanagari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9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20C1C"/>
                          </a:solidFill>
                          <a:latin typeface="Abadi" panose="020B0604020104020204" pitchFamily="34" charset="0"/>
                          <a:ea typeface="Noto Sans Devanagari" pitchFamily="34" charset="-122"/>
                          <a:cs typeface="Noto Sans Devanagari" pitchFamily="34" charset="-120"/>
                        </a:rPr>
                        <a:t>High</a:t>
                      </a:r>
                      <a:endParaRPr lang="en-US" sz="1700" dirty="0">
                        <a:latin typeface="Abadi" panose="020B0604020104020204" pitchFamily="34" charset="0"/>
                        <a:ea typeface="Noto Sans Devanagari" charset="0"/>
                        <a:cs typeface="Noto Sans Devanagari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9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420C1C"/>
                          </a:solidFill>
                          <a:latin typeface="Abadi" panose="020B0604020104020204" pitchFamily="34" charset="0"/>
                          <a:ea typeface="Noto Sans Devanagari" charset="0"/>
                          <a:cs typeface="Noto Sans Devanagari" pitchFamily="34" charset="-120"/>
                        </a:rPr>
                        <a:t>Halt Transfer</a:t>
                      </a:r>
                      <a:endParaRPr lang="en-US" sz="1700" dirty="0">
                        <a:latin typeface="Abadi" panose="020B0604020104020204" pitchFamily="34" charset="0"/>
                        <a:ea typeface="Noto Sans Devanagari" charset="0"/>
                        <a:cs typeface="Noto Sans Devanagari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9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9A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8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badi" panose="020B0604020104020204" pitchFamily="34" charset="0"/>
                          <a:ea typeface="Noto Sans Devanagari" pitchFamily="34" charset="-122"/>
                          <a:cs typeface="Noto Sans Devanagari" pitchFamily="34" charset="-120"/>
                        </a:rPr>
                        <a:t>85–100</a:t>
                      </a:r>
                      <a:endParaRPr lang="en-US" sz="1700" dirty="0">
                        <a:latin typeface="Abadi" panose="020B0604020104020204" pitchFamily="34" charset="0"/>
                        <a:ea typeface="Noto Sans Devanagari" charset="0"/>
                        <a:cs typeface="Noto Sans Devanagari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6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badi" panose="020B0604020104020204" pitchFamily="34" charset="0"/>
                          <a:ea typeface="Noto Sans Devanagari" pitchFamily="34" charset="-122"/>
                          <a:cs typeface="Noto Sans Devanagari" pitchFamily="34" charset="-120"/>
                        </a:rPr>
                        <a:t>Critical Fraud</a:t>
                      </a:r>
                      <a:endParaRPr lang="en-US" sz="1700" dirty="0">
                        <a:latin typeface="Abadi" panose="020B0604020104020204" pitchFamily="34" charset="0"/>
                        <a:ea typeface="Noto Sans Devanagari" charset="0"/>
                        <a:cs typeface="Noto Sans Devanagari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6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FFFFFF"/>
                          </a:solidFill>
                          <a:latin typeface="Abadi" panose="020B0604020104020204" pitchFamily="34" charset="0"/>
                          <a:ea typeface="Noto Sans Devanagari" pitchFamily="34" charset="-122"/>
                          <a:cs typeface="Noto Sans Devanagari" pitchFamily="34" charset="-120"/>
                        </a:rPr>
                        <a:t>Block and report</a:t>
                      </a:r>
                      <a:endParaRPr lang="en-US" sz="1700" dirty="0">
                        <a:latin typeface="Abadi" panose="020B0604020104020204" pitchFamily="34" charset="0"/>
                        <a:ea typeface="Noto Sans Devanagari" charset="0"/>
                        <a:cs typeface="Noto Sans Devanagari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C6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28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8511" y="5139333"/>
            <a:ext cx="624318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420C1C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Illustrative scale, not live product data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812800"/>
            <a:ext cx="9143771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45" dirty="0">
                <a:solidFill>
                  <a:srgbClr val="420C1C"/>
                </a:solidFill>
                <a:latin typeface="Abadi" panose="020F0502020204030204" pitchFamily="34" charset="0"/>
                <a:ea typeface="Noto Sans Devanagari SemiBold" pitchFamily="34" charset="-122"/>
                <a:cs typeface="Noto Sans Devanagari SemiBold" pitchFamily="34" charset="-120"/>
              </a:rPr>
              <a:t>Route the complaint to the right institution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780" y="1495425"/>
            <a:ext cx="3369583" cy="4549775"/>
          </a:xfrm>
          <a:prstGeom prst="rect">
            <a:avLst/>
          </a:prstGeom>
          <a:solidFill>
            <a:srgbClr val="F3EAE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066773" y="3214092"/>
            <a:ext cx="286159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-10" dirty="0">
                <a:solidFill>
                  <a:srgbClr val="420C1C"/>
                </a:solidFill>
                <a:latin typeface="Abadi" panose="020F0502020204030204" pitchFamily="34" charset="0"/>
                <a:ea typeface="Noto Sans Devanagari SemiBold" pitchFamily="34" charset="-122"/>
                <a:cs typeface="Noto Sans Devanagari SemiBold" pitchFamily="34" charset="-120"/>
              </a:rPr>
              <a:t>Proposed triage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66773" y="3722092"/>
            <a:ext cx="286159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420C1C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Intermediary grievance or criminal cyber fraud?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639551" y="1919982"/>
            <a:ext cx="6739364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kern="100" spc="-8" dirty="0">
                <a:solidFill>
                  <a:srgbClr val="420C1C"/>
                </a:solidFill>
                <a:latin typeface="Abadi" panose="020F0502020204030204" pitchFamily="34" charset="0"/>
                <a:ea typeface="Noto Sans Devanagari SemiBold" pitchFamily="34" charset="-122"/>
                <a:cs typeface="Noto Sans Devanagari SemiBold" pitchFamily="34" charset="-120"/>
              </a:rPr>
              <a:t>Intermediary grievance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639551" y="2382242"/>
            <a:ext cx="673936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420C1C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SCORES 2.0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639551" y="3090863"/>
            <a:ext cx="6739364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kern="100" spc="-8" dirty="0">
                <a:solidFill>
                  <a:srgbClr val="420C1C"/>
                </a:solidFill>
                <a:latin typeface="Abadi" panose="020F0502020204030204" pitchFamily="34" charset="0"/>
                <a:ea typeface="Noto Sans Devanagari SemiBold" pitchFamily="34" charset="-122"/>
                <a:cs typeface="Noto Sans Devanagari SemiBold" pitchFamily="34" charset="-120"/>
              </a:rPr>
              <a:t>Criminal cyber fraud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39551" y="3553123"/>
            <a:ext cx="673936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420C1C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NCRP 1930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39551" y="4261743"/>
            <a:ext cx="6739364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kern="100" spc="-8" dirty="0">
                <a:solidFill>
                  <a:srgbClr val="420C1C"/>
                </a:solidFill>
                <a:latin typeface="Abadi" panose="020F0502020204030204" pitchFamily="34" charset="0"/>
                <a:ea typeface="Noto Sans Devanagari SemiBold" pitchFamily="34" charset="-122"/>
                <a:cs typeface="Noto Sans Devanagari SemiBold" pitchFamily="34" charset="-120"/>
              </a:rPr>
              <a:t>Market intelligence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39551" y="4724003"/>
            <a:ext cx="673936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420C1C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SEBI Market Intelligence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39551" y="5191323"/>
            <a:ext cx="6739364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7A5C60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Institutional routing rules require validation; a claimed registration alone must not be presented as confirmed eligibility.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39551" y="2881312"/>
            <a:ext cx="6739364" cy="12700"/>
          </a:xfrm>
          <a:prstGeom prst="rect">
            <a:avLst/>
          </a:prstGeom>
          <a:solidFill>
            <a:srgbClr val="E2D3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639551" y="4052193"/>
            <a:ext cx="6739364" cy="12700"/>
          </a:xfrm>
          <a:prstGeom prst="rect">
            <a:avLst/>
          </a:prstGeom>
          <a:solidFill>
            <a:srgbClr val="E2D3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920C9E-02C8-D1E4-06E6-7BE87236A343}"/>
              </a:ext>
            </a:extLst>
          </p:cNvPr>
          <p:cNvSpPr/>
          <p:nvPr/>
        </p:nvSpPr>
        <p:spPr>
          <a:xfrm>
            <a:off x="11032067" y="6561667"/>
            <a:ext cx="1083733" cy="237066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812800"/>
            <a:ext cx="9143771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45" dirty="0">
                <a:solidFill>
                  <a:srgbClr val="420C1C"/>
                </a:solidFill>
                <a:latin typeface="Abadi" panose="020F0502020204030204" pitchFamily="34" charset="0"/>
                <a:ea typeface="Noto Sans Devanagari SemiBold" pitchFamily="34" charset="-122"/>
                <a:cs typeface="Noto Sans Devanagari SemiBold" pitchFamily="34" charset="-120"/>
              </a:rPr>
              <a:t>Package evidence so the investor can act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780" y="1549400"/>
            <a:ext cx="1320767" cy="38100"/>
          </a:xfrm>
          <a:prstGeom prst="roundRect">
            <a:avLst>
              <a:gd name="adj" fmla="val 49999"/>
            </a:avLst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12780" y="2733014"/>
            <a:ext cx="1203096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100" spc="-88" dirty="0">
                <a:solidFill>
                  <a:srgbClr val="7A5C60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812780" y="3376646"/>
            <a:ext cx="3217187" cy="12601"/>
          </a:xfrm>
          <a:prstGeom prst="rect">
            <a:avLst/>
          </a:prstGeom>
          <a:solidFill>
            <a:srgbClr val="E2D3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12780" y="3616359"/>
            <a:ext cx="3217187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kern="100" spc="-8" dirty="0">
                <a:solidFill>
                  <a:srgbClr val="420C1C"/>
                </a:solidFill>
                <a:latin typeface="Abadi" panose="020F0502020204030204" pitchFamily="34" charset="0"/>
                <a:ea typeface="Noto Sans Devanagari SemiBold" pitchFamily="34" charset="-122"/>
                <a:cs typeface="Noto Sans Devanagari SemiBold" pitchFamily="34" charset="-120"/>
              </a:rPr>
              <a:t>Complaint bundle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12780" y="4078619"/>
            <a:ext cx="3217187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420C1C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UPI handle, extracted timestamps, claimed license numbers and SHA-256 hashes.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487155" y="2733014"/>
            <a:ext cx="1203096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100" spc="-88" dirty="0">
                <a:solidFill>
                  <a:srgbClr val="7A5C60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02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4487155" y="3376646"/>
            <a:ext cx="3217187" cy="12601"/>
          </a:xfrm>
          <a:prstGeom prst="rect">
            <a:avLst/>
          </a:prstGeom>
          <a:solidFill>
            <a:srgbClr val="E2D3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487155" y="3616359"/>
            <a:ext cx="3217286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kern="100" spc="-8" dirty="0">
                <a:solidFill>
                  <a:srgbClr val="420C1C"/>
                </a:solidFill>
                <a:latin typeface="Abadi" panose="020F0502020204030204" pitchFamily="34" charset="0"/>
                <a:ea typeface="Noto Sans Devanagari SemiBold" pitchFamily="34" charset="-122"/>
                <a:cs typeface="Noto Sans Devanagari SemiBold" pitchFamily="34" charset="-120"/>
              </a:rPr>
              <a:t>Dispatch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87155" y="4078619"/>
            <a:ext cx="321728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420C1C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1930 dispatch template and structured grievance payload.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61629" y="2733014"/>
            <a:ext cx="1203096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100" spc="-88" dirty="0">
                <a:solidFill>
                  <a:srgbClr val="7A5C60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03</a:t>
            </a:r>
            <a:endParaRPr lang="en-US" sz="4400" dirty="0"/>
          </a:p>
        </p:txBody>
      </p:sp>
      <p:sp>
        <p:nvSpPr>
          <p:cNvPr id="13" name="Shape 11"/>
          <p:cNvSpPr/>
          <p:nvPr/>
        </p:nvSpPr>
        <p:spPr>
          <a:xfrm>
            <a:off x="8161629" y="3376646"/>
            <a:ext cx="3217187" cy="12601"/>
          </a:xfrm>
          <a:prstGeom prst="rect">
            <a:avLst/>
          </a:prstGeom>
          <a:solidFill>
            <a:srgbClr val="E2D3C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161629" y="3616359"/>
            <a:ext cx="3217286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kern="100" spc="-8" dirty="0">
                <a:solidFill>
                  <a:srgbClr val="420C1C"/>
                </a:solidFill>
                <a:latin typeface="Abadi" panose="020F0502020204030204" pitchFamily="34" charset="0"/>
                <a:ea typeface="Noto Sans Devanagari SemiBold" pitchFamily="34" charset="-122"/>
                <a:cs typeface="Noto Sans Devanagari SemiBold" pitchFamily="34" charset="-120"/>
              </a:rPr>
              <a:t>Court-Ready PDF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61629" y="4078619"/>
            <a:ext cx="3217286" cy="1208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420C1C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Compiled under Section 65B Indian Evidence Act guidelines with SHA-256 audit trails for Cyber Police &amp; SEBI filing.</a:t>
            </a:r>
            <a:endParaRPr lang="en-US" sz="17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00020A-CBEB-2330-46AF-7913C534E257}"/>
              </a:ext>
            </a:extLst>
          </p:cNvPr>
          <p:cNvSpPr/>
          <p:nvPr/>
        </p:nvSpPr>
        <p:spPr>
          <a:xfrm>
            <a:off x="11032067" y="6561667"/>
            <a:ext cx="1083733" cy="237066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812800"/>
            <a:ext cx="9143771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45" dirty="0">
                <a:solidFill>
                  <a:srgbClr val="FFFFFF"/>
                </a:solidFill>
                <a:latin typeface="Abadi" panose="020F0502020204030204" pitchFamily="34" charset="0"/>
                <a:ea typeface="Noto Sans Devanagari SemiBold" pitchFamily="34" charset="-122"/>
                <a:cs typeface="Noto Sans Devanagari SemiBold" pitchFamily="34" charset="-120"/>
              </a:rPr>
              <a:t>Investor defense, </a:t>
            </a:r>
            <a:r>
              <a:rPr lang="en-US" sz="3000" kern="100" spc="-45" dirty="0">
                <a:solidFill>
                  <a:srgbClr val="2EC4B6"/>
                </a:solidFill>
                <a:latin typeface="Abadi" panose="020F0502020204030204" pitchFamily="34" charset="0"/>
                <a:ea typeface="Noto Sans Devanagari SemiBold" pitchFamily="34" charset="-122"/>
                <a:cs typeface="Noto Sans Devanagari SemiBold" pitchFamily="34" charset="-120"/>
              </a:rPr>
              <a:t>never</a:t>
            </a:r>
            <a:r>
              <a:rPr lang="en-US" sz="3000" kern="100" spc="-45" dirty="0">
                <a:solidFill>
                  <a:srgbClr val="FFFFFF"/>
                </a:solidFill>
                <a:latin typeface="Abadi" panose="020F0502020204030204" pitchFamily="34" charset="0"/>
                <a:ea typeface="Noto Sans Devanagari SemiBold" pitchFamily="34" charset="-122"/>
                <a:cs typeface="Noto Sans Devanagari SemiBold" pitchFamily="34" charset="-120"/>
              </a:rPr>
              <a:t> investment advice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780" y="1549400"/>
            <a:ext cx="3486757" cy="38100"/>
          </a:xfrm>
          <a:prstGeom prst="roundRect">
            <a:avLst>
              <a:gd name="adj" fmla="val 49999"/>
            </a:avLst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12780" y="2288977"/>
            <a:ext cx="3217187" cy="3108722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1374" y="2517577"/>
            <a:ext cx="85187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badi" panose="020F0502020204030204" pitchFamily="34" charset="0"/>
                <a:ea typeface="Noto Sans Devanagari SemiBold" pitchFamily="34" charset="-122"/>
                <a:cs typeface="Noto Sans Devanagari SemiBold" pitchFamily="34" charset="-120"/>
              </a:rPr>
              <a:t>01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041374" y="2962077"/>
            <a:ext cx="2759998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-10" dirty="0">
                <a:solidFill>
                  <a:srgbClr val="000000"/>
                </a:solidFill>
                <a:latin typeface="Abadi" panose="020F0502020204030204" pitchFamily="34" charset="0"/>
                <a:ea typeface="Noto Sans Devanagari SemiBold" pitchFamily="34" charset="-122"/>
                <a:cs typeface="Noto Sans Devanagari SemiBold" pitchFamily="34" charset="-120"/>
              </a:rPr>
              <a:t>No advice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41374" y="3355777"/>
            <a:ext cx="2759998" cy="1813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No stock recommendations, price predictions, broker endorsements, affiliate links or commission monetization.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487155" y="2288977"/>
            <a:ext cx="3217286" cy="3108722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715749" y="2517577"/>
            <a:ext cx="85187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badi" panose="020F0502020204030204" pitchFamily="34" charset="0"/>
                <a:ea typeface="Noto Sans Devanagari SemiBold" pitchFamily="34" charset="-122"/>
                <a:cs typeface="Noto Sans Devanagari SemiBold" pitchFamily="34" charset="-120"/>
              </a:rPr>
              <a:t>02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699077" y="2962077"/>
            <a:ext cx="276009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-10" dirty="0">
                <a:solidFill>
                  <a:srgbClr val="000000"/>
                </a:solidFill>
                <a:latin typeface="Abadi" panose="020F0502020204030204" pitchFamily="34" charset="0"/>
                <a:ea typeface="Noto Sans Devanagari SemiBold" pitchFamily="34" charset="-122"/>
                <a:cs typeface="Noto Sans Devanagari SemiBold" pitchFamily="34" charset="-120"/>
              </a:rPr>
              <a:t>Reject and redirect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15749" y="3355777"/>
            <a:ext cx="2760097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Reject speculative buy/sell questions; direct users toward verified advisors.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61629" y="2288977"/>
            <a:ext cx="3217286" cy="3108722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390224" y="2517577"/>
            <a:ext cx="851871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Abadi" panose="020F0502020204030204" pitchFamily="34" charset="0"/>
                <a:ea typeface="Noto Sans Devanagari SemiBold" pitchFamily="34" charset="-122"/>
                <a:cs typeface="Noto Sans Devanagari SemiBold" pitchFamily="34" charset="-120"/>
              </a:rPr>
              <a:t>03</a:t>
            </a:r>
            <a:endParaRPr lang="en-US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8390224" y="2962077"/>
            <a:ext cx="2760097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kern="100" spc="-10" dirty="0">
                <a:solidFill>
                  <a:srgbClr val="000000"/>
                </a:solidFill>
                <a:latin typeface="Abadi" panose="020F0502020204030204" pitchFamily="34" charset="0"/>
                <a:ea typeface="Noto Sans Devanagari SemiBold" pitchFamily="34" charset="-122"/>
                <a:cs typeface="Noto Sans Devanagari SemiBold" pitchFamily="34" charset="-120"/>
              </a:rPr>
              <a:t>No credentials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90224" y="3355777"/>
            <a:ext cx="2760097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No OTPs, bank passwords or sensitive credentials requested or stored.</a:t>
            </a:r>
            <a:endParaRPr lang="en-US" sz="17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3005F1-5DF5-5A3E-9869-9C6B2325AD4A}"/>
              </a:ext>
            </a:extLst>
          </p:cNvPr>
          <p:cNvSpPr/>
          <p:nvPr/>
        </p:nvSpPr>
        <p:spPr>
          <a:xfrm>
            <a:off x="11032067" y="6561667"/>
            <a:ext cx="1083733" cy="237066"/>
          </a:xfrm>
          <a:prstGeom prst="rect">
            <a:avLst/>
          </a:prstGeom>
          <a:solidFill>
            <a:srgbClr val="420C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1520627"/>
            <a:ext cx="640064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45" dirty="0">
                <a:solidFill>
                  <a:srgbClr val="420C1C"/>
                </a:solidFill>
                <a:latin typeface="Abadi" panose="020F0502020204030204" pitchFamily="34" charset="0"/>
                <a:ea typeface="Noto Sans Devanagari SemiBold" pitchFamily="34" charset="-122"/>
                <a:cs typeface="Noto Sans Devanagari SemiBold" pitchFamily="34" charset="-120"/>
              </a:rPr>
              <a:t>Expand through familiar investor channels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780" y="2657277"/>
            <a:ext cx="800080" cy="38100"/>
          </a:xfrm>
          <a:prstGeom prst="roundRect">
            <a:avLst>
              <a:gd name="adj" fmla="val 49999"/>
            </a:avLst>
          </a:prstGeom>
          <a:solidFill>
            <a:srgbClr val="2EC4B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12780" y="3003352"/>
            <a:ext cx="6400640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420C1C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Proposed rollout: broker fund-transfer SDK, depository awareness portals and a WhatsApp sentinel bot.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780" y="4430713"/>
            <a:ext cx="6400640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420C1C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Language expansion from Hindi and Bengali toward the 22 scheduled Indian languages using Indic models is a roadmap ambition.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21407" y="0"/>
            <a:ext cx="4470288" cy="6858000"/>
          </a:xfrm>
          <a:prstGeom prst="rect">
            <a:avLst/>
          </a:prstGeom>
          <a:solidFill>
            <a:srgbClr val="F3EAE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407" y="0"/>
            <a:ext cx="44702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0" y="1476970"/>
            <a:ext cx="9143771" cy="1588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7000"/>
              </a:lnSpc>
              <a:buNone/>
            </a:pPr>
            <a:r>
              <a:rPr lang="en-US" sz="6800" kern="100" spc="-170" dirty="0">
                <a:solidFill>
                  <a:srgbClr val="FFFFFF"/>
                </a:solidFill>
                <a:latin typeface="Abadi" panose="020F0502020204030204" pitchFamily="34" charset="0"/>
                <a:ea typeface="Noto Sans Devanagari SemiBold" pitchFamily="34" charset="-122"/>
                <a:cs typeface="Noto Sans Devanagari SemiBold" pitchFamily="34" charset="-120"/>
              </a:rPr>
              <a:t>Safe investing for every citizen of </a:t>
            </a:r>
            <a:r>
              <a:rPr lang="en-US" sz="6800" kern="100" spc="-170" dirty="0">
                <a:solidFill>
                  <a:srgbClr val="2EC4B6"/>
                </a:solidFill>
                <a:latin typeface="Abadi" panose="020F0502020204030204" pitchFamily="34" charset="0"/>
                <a:ea typeface="Noto Sans Devanagari SemiBold" pitchFamily="34" charset="-122"/>
                <a:cs typeface="Noto Sans Devanagari SemiBold" pitchFamily="34" charset="-120"/>
              </a:rPr>
              <a:t>Bharat</a:t>
            </a:r>
            <a:endParaRPr lang="en-US" sz="6800" dirty="0"/>
          </a:p>
        </p:txBody>
      </p:sp>
      <p:sp>
        <p:nvSpPr>
          <p:cNvPr id="3" name="Text 1"/>
          <p:cNvSpPr/>
          <p:nvPr/>
        </p:nvSpPr>
        <p:spPr>
          <a:xfrm>
            <a:off x="812780" y="3348434"/>
            <a:ext cx="7619809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200" dirty="0">
                <a:solidFill>
                  <a:srgbClr val="EBC9C9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SatarkBharat brings multimodal ingestion, deterministic verification, vernacular warnings and actionable evidence into one pre-transaction sentinel.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2780" y="4828183"/>
            <a:ext cx="10566036" cy="31651"/>
          </a:xfrm>
          <a:prstGeom prst="roundRect">
            <a:avLst>
              <a:gd name="adj" fmla="val 49998"/>
            </a:avLst>
          </a:prstGeom>
          <a:solidFill>
            <a:srgbClr val="EBC9C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2780" y="5166320"/>
            <a:ext cx="1117572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EBC9C9"/>
                </a:solidFill>
                <a:latin typeface="Abadi" panose="020B0604020104020204" pitchFamily="34" charset="0"/>
                <a:ea typeface="Noto Sans Devanagari" pitchFamily="34" charset="-122"/>
                <a:cs typeface="Noto Sans Devanagari" pitchFamily="34" charset="-120"/>
              </a:rPr>
              <a:t>Demonstrate the suspicious-message-to-warning journey; validate registry access, routing logic and integrations before deployment.</a:t>
            </a:r>
            <a:endParaRPr lang="en-US" sz="13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1AF206-529C-B842-31E9-FAA87C7BDB2F}"/>
              </a:ext>
            </a:extLst>
          </p:cNvPr>
          <p:cNvSpPr/>
          <p:nvPr/>
        </p:nvSpPr>
        <p:spPr>
          <a:xfrm>
            <a:off x="11032067" y="6561667"/>
            <a:ext cx="1083733" cy="237066"/>
          </a:xfrm>
          <a:prstGeom prst="rect">
            <a:avLst/>
          </a:prstGeom>
          <a:solidFill>
            <a:srgbClr val="420C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549</Words>
  <Application>Microsoft Office PowerPoint</Application>
  <PresentationFormat>Widescreen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Abadi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Rwik Debnath</cp:lastModifiedBy>
  <cp:revision>5</cp:revision>
  <dcterms:created xsi:type="dcterms:W3CDTF">2026-10-04T16:05:53Z</dcterms:created>
  <dcterms:modified xsi:type="dcterms:W3CDTF">2026-10-04T16:35:30Z</dcterms:modified>
</cp:coreProperties>
</file>